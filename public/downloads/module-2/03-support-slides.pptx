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5214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5214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502920"/>
            <a:ext cx="1920240" cy="502920"/>
          </a:xfrm>
          <a:prstGeom prst="roundRect">
            <a:avLst>
              <a:gd name="adj" fmla="val 50000"/>
            </a:avLst>
          </a:prstGeom>
          <a:solidFill>
            <a:srgbClr val="E0684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5029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753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Communiquer avec Claude comme un expert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48640" y="30632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Prompts, méthodes et workflows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5806440"/>
            <a:ext cx="5394960" cy="548640"/>
          </a:xfrm>
          <a:prstGeom prst="roundRect">
            <a:avLst>
              <a:gd name="adj" fmla="val 50000"/>
            </a:avLst>
          </a:prstGeom>
          <a:solidFill>
            <a:srgbClr val="1A1323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580644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2  •  19 AOÛT 2026  •  18H00 GMT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640080" cy="640080"/>
          </a:xfrm>
          <a:prstGeom prst="ellipse">
            <a:avLst/>
          </a:prstGeom>
          <a:solidFill>
            <a:srgbClr val="E0684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1 sur 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méthode C.L.A.R.T.É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52044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D8C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Fatou reformule le même prompt 4 fois avant d'obtenir ce qu'elle veut. Elle va apprendre à ne plus jamais improviser.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5214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5214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502920"/>
            <a:ext cx="548640" cy="548640"/>
          </a:xfrm>
          <a:prstGeom prst="ellipse">
            <a:avLst/>
          </a:prstGeom>
          <a:solidFill>
            <a:srgbClr val="7530A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502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▦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438912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C.L.A.R.T.É en 6 lettres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48640" y="1600200"/>
            <a:ext cx="61264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Livrable attendu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Restrictions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buNone/>
            </a:pPr>
            <a:r>
              <a:rPr lang="en-US" sz="2000" b="1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Exemples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223760" y="1417320"/>
            <a:ext cx="4389120" cy="4389120"/>
          </a:xfrm>
          <a:prstGeom prst="roundRect">
            <a:avLst>
              <a:gd name="adj" fmla="val 4583"/>
            </a:avLst>
          </a:prstGeom>
          <a:solidFill>
            <a:srgbClr val="1A1323"/>
          </a:solidFill>
          <a:ln/>
        </p:spPr>
      </p:sp>
      <p:sp>
        <p:nvSpPr>
          <p:cNvPr id="11" name="Text 9"/>
          <p:cNvSpPr/>
          <p:nvPr/>
        </p:nvSpPr>
        <p:spPr>
          <a:xfrm>
            <a:off x="7543800" y="1691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RETENIR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543800" y="2194560"/>
            <a:ext cx="37490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prompt sans Audience change de ton — c'est souvent l'oubli le plus coûteux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E0684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99669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: « Écris-moi un email pour relancer un client. »</a:t>
            </a:r>
            <a:endParaRPr lang="en-US" sz="2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C.L.A.R.T.É : un email prêt à envoyer, dans le ton exact de Fatou, du premier coup.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4800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Fatou Diallo, consultante indépendante, Dakar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5214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5214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502920"/>
            <a:ext cx="548640" cy="548640"/>
          </a:xfrm>
          <a:prstGeom prst="ellipse">
            <a:avLst/>
          </a:prstGeom>
          <a:solidFill>
            <a:srgbClr val="7530A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502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▦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438912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/ Après sur un cas réel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48640" y="150876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(prompt brut)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192024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 Écris-moi un email pour relancer un client qui n'a pas payé. »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288036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 obtenu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3291840"/>
            <a:ext cx="6126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générique et impersonnel : ton trop mou pour une facture en retard, aucun montant, aucune échéance mentionnée — à réécrire entièrement à la main.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223760" y="1417320"/>
            <a:ext cx="4389120" cy="4389120"/>
          </a:xfrm>
          <a:prstGeom prst="roundRect">
            <a:avLst>
              <a:gd name="adj" fmla="val 4583"/>
            </a:avLst>
          </a:prstGeom>
          <a:solidFill>
            <a:srgbClr val="1A1323"/>
          </a:solidFill>
          <a:ln/>
        </p:spPr>
      </p:sp>
      <p:sp>
        <p:nvSpPr>
          <p:cNvPr id="14" name="Text 12"/>
          <p:cNvSpPr/>
          <p:nvPr/>
        </p:nvSpPr>
        <p:spPr>
          <a:xfrm>
            <a:off x="7543800" y="16733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— C.L.A.R.T.É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543800" y="2148840"/>
            <a:ext cx="37490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— consultante indépendante en gestion de projets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— email de relance de facture, 120 mots max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— Awa Ndiaye, contact cordial depuis 2 ans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— jamais de mention de pénalité ou menace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— direct et professionnel, jamais froid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— un email précédent repris comme modèle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640080" cy="640080"/>
          </a:xfrm>
          <a:prstGeom prst="ellipse">
            <a:avLst/>
          </a:prstGeom>
          <a:solidFill>
            <a:srgbClr val="E0684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2 sur 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ou mission ?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52044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D8C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Certaines tâches méritent qu'on demande à Claude de réfléchir avant d'agir.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5214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5214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502920"/>
            <a:ext cx="548640" cy="548640"/>
          </a:xfrm>
          <a:prstGeom prst="ellipse">
            <a:avLst/>
          </a:prstGeom>
          <a:solidFill>
            <a:srgbClr val="7530A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502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▦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438912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Poser une question vs confier une mission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48640" y="1600200"/>
            <a:ext cx="63093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spcAft>
                <a:spcPts val="2200"/>
              </a:spcAft>
              <a:buNone/>
            </a:pPr>
            <a:r>
              <a:rPr lang="en-US" sz="17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→ réponse directe attendue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spcAft>
                <a:spcPts val="2200"/>
              </a:spcAft>
              <a:buNone/>
            </a:pPr>
            <a:r>
              <a:rPr lang="en-US" sz="17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→ plusieurs contraintes, un livrable, parfois plusieurs étapes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buNone/>
            </a:pPr>
            <a:r>
              <a:rPr lang="en-US" sz="17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Réflexe : « réfléchis étape par étape, présente ton plan avant d'exécuter » sur les missions complexes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223760" y="1417320"/>
            <a:ext cx="4389120" cy="4389120"/>
          </a:xfrm>
          <a:prstGeom prst="roundRect">
            <a:avLst>
              <a:gd name="adj" fmla="val 4583"/>
            </a:avLst>
          </a:prstGeom>
          <a:solidFill>
            <a:srgbClr val="1A1323"/>
          </a:solidFill>
          <a:ln/>
        </p:spPr>
      </p:sp>
      <p:sp>
        <p:nvSpPr>
          <p:cNvPr id="11" name="Text 9"/>
          <p:cNvSpPr/>
          <p:nvPr/>
        </p:nvSpPr>
        <p:spPr>
          <a:xfrm>
            <a:off x="7543800" y="1691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RETENIR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543800" y="2194560"/>
            <a:ext cx="37490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plan validé avant exécution évite de tout recommencer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640080" cy="640080"/>
          </a:xfrm>
          <a:prstGeom prst="ellipse">
            <a:avLst/>
          </a:prstGeom>
          <a:solidFill>
            <a:srgbClr val="E0684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3 sur 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prompts à gabarits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52044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D8C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bon prompt écrit une fois, réutilisé à l'infini avec des variables.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5214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5214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502920"/>
            <a:ext cx="548640" cy="548640"/>
          </a:xfrm>
          <a:prstGeom prst="ellipse">
            <a:avLst/>
          </a:prstGeom>
          <a:solidFill>
            <a:srgbClr val="7530A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502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▦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438912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ponctuel → gabarit à {variables}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48640" y="150876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— prompt rempli pour DELTA Distribution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1920240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« Rédige un email de relance pour DELTA Distribution : facture de 850 000 FCFA émise il y a 3 semaines, contact Awa Ndiaye. »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324612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— gabarit réutilisable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365760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« Rédige un email de relance pour </a:t>
            </a:r>
            <a:pPr algn="l" indent="0" marL="0">
              <a:buNone/>
            </a:pPr>
            <a:r>
              <a:rPr lang="en-US" sz="1350" b="1" dirty="0">
                <a:solidFill>
                  <a:srgbClr val="E06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{nom_client}</a:t>
            </a:r>
            <a:pPr algn="l" indent="0" marL="0">
              <a:buNone/>
            </a:pPr>
            <a:r>
              <a:rPr lang="en-US" sz="1350" dirty="0">
                <a:solidFill>
                  <a:srgbClr val="1A1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facture de </a:t>
            </a:r>
            <a:pPr algn="l" indent="0" marL="0">
              <a:buNone/>
            </a:pPr>
            <a:r>
              <a:rPr lang="en-US" sz="1350" b="1" dirty="0">
                <a:solidFill>
                  <a:srgbClr val="E06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{montant}</a:t>
            </a:r>
            <a:pPr algn="l" indent="0" marL="0">
              <a:buNone/>
            </a:pPr>
            <a:r>
              <a:rPr lang="en-US" sz="1350" dirty="0">
                <a:solidFill>
                  <a:srgbClr val="1A1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émise il y a </a:t>
            </a:r>
            <a:pPr algn="l" indent="0" marL="0">
              <a:buNone/>
            </a:pPr>
            <a:r>
              <a:rPr lang="en-US" sz="1350" b="1" dirty="0">
                <a:solidFill>
                  <a:srgbClr val="E06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{echeance}</a:t>
            </a:r>
            <a:pPr algn="l" indent="0" marL="0">
              <a:buNone/>
            </a:pPr>
            <a:r>
              <a:rPr lang="en-US" sz="1350" dirty="0">
                <a:solidFill>
                  <a:srgbClr val="1A1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contact {nom_contact}. »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223760" y="1417320"/>
            <a:ext cx="4389120" cy="4389120"/>
          </a:xfrm>
          <a:prstGeom prst="roundRect">
            <a:avLst>
              <a:gd name="adj" fmla="val 4583"/>
            </a:avLst>
          </a:prstGeom>
          <a:solidFill>
            <a:srgbClr val="1A1323"/>
          </a:solidFill>
          <a:ln/>
        </p:spPr>
      </p:sp>
      <p:sp>
        <p:nvSpPr>
          <p:cNvPr id="14" name="Text 12"/>
          <p:cNvSpPr/>
          <p:nvPr/>
        </p:nvSpPr>
        <p:spPr>
          <a:xfrm>
            <a:off x="7543800" y="1691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RETENIR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543800" y="2194560"/>
            <a:ext cx="37490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Rentable dès le 2ᵉ client sur lequel vous le réutilisez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640080" cy="640080"/>
          </a:xfrm>
          <a:prstGeom prst="ellipse">
            <a:avLst/>
          </a:prstGeom>
          <a:solidFill>
            <a:srgbClr val="E0684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4 sur 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Workflows multi-étapes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52044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D8C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Arrêter d'attendre un résultat parfait en un seul message.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5214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5214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502920"/>
            <a:ext cx="548640" cy="548640"/>
          </a:xfrm>
          <a:prstGeom prst="ellipse">
            <a:avLst/>
          </a:prstGeom>
          <a:solidFill>
            <a:srgbClr val="7530A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502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▦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438912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→ Brouillon → Critique → Version finale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48640" y="1600200"/>
            <a:ext cx="63093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spcAft>
                <a:spcPts val="1800"/>
              </a:spcAft>
              <a:buNone/>
            </a:pPr>
            <a:r>
              <a:rPr lang="en-US" sz="165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— contexte + consignes complètes (C.L.A.R.T.É)</a:t>
            </a:r>
            <a:endParaRPr lang="en-US" sz="1650" dirty="0"/>
          </a:p>
          <a:p>
            <a:pPr algn="l" indent="0" marL="0">
              <a:buNone/>
            </a:pPr>
            <a:r>
              <a:rPr lang="en-US" sz="165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spcAft>
                <a:spcPts val="1800"/>
              </a:spcAft>
              <a:buNone/>
            </a:pPr>
            <a:r>
              <a:rPr lang="en-US" sz="165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Brouillon — Claude produit une première version</a:t>
            </a:r>
            <a:endParaRPr lang="en-US" sz="1650" dirty="0"/>
          </a:p>
          <a:p>
            <a:pPr algn="l" indent="0" marL="0">
              <a:buNone/>
            </a:pPr>
            <a:r>
              <a:rPr lang="en-US" sz="165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spcAft>
                <a:spcPts val="1800"/>
              </a:spcAft>
              <a:buNone/>
            </a:pPr>
            <a:r>
              <a:rPr lang="en-US" sz="165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Critique — demander à Claude de challenger son propre brouillon</a:t>
            </a:r>
            <a:endParaRPr lang="en-US" sz="1650" dirty="0"/>
          </a:p>
          <a:p>
            <a:pPr algn="l" indent="0" marL="0">
              <a:buNone/>
            </a:pPr>
            <a:r>
              <a:rPr lang="en-US" sz="165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buNone/>
            </a:pPr>
            <a:r>
              <a:rPr lang="en-US" sz="165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finale — intégrer la critique retenue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7223760" y="1417320"/>
            <a:ext cx="4389120" cy="4389120"/>
          </a:xfrm>
          <a:prstGeom prst="roundRect">
            <a:avLst>
              <a:gd name="adj" fmla="val 4583"/>
            </a:avLst>
          </a:prstGeom>
          <a:solidFill>
            <a:srgbClr val="1A1323"/>
          </a:solidFill>
          <a:ln/>
        </p:spPr>
      </p:sp>
      <p:sp>
        <p:nvSpPr>
          <p:cNvPr id="11" name="Text 9"/>
          <p:cNvSpPr/>
          <p:nvPr/>
        </p:nvSpPr>
        <p:spPr>
          <a:xfrm>
            <a:off x="7543800" y="1691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RETENIR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543800" y="2194560"/>
            <a:ext cx="37490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messages courts battent 1 message parfait à écrire du premier coup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640080" cy="640080"/>
          </a:xfrm>
          <a:prstGeom prst="ellipse">
            <a:avLst/>
          </a:prstGeom>
          <a:solidFill>
            <a:srgbClr val="E0684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5 sur 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Analyser un document réel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52044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D8C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Uploader un contrat plutôt que le recopier à la main.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5214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5214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502920"/>
            <a:ext cx="548640" cy="548640"/>
          </a:xfrm>
          <a:prstGeom prst="ellipse">
            <a:avLst/>
          </a:prstGeom>
          <a:solidFill>
            <a:srgbClr val="7530A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502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▦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438912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 structurée d'un document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48640" y="1600200"/>
            <a:ext cx="63093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spcAft>
                <a:spcPts val="2200"/>
              </a:spcAft>
              <a:buNone/>
            </a:pPr>
            <a:r>
              <a:rPr lang="en-US" sz="17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Uploader le PDF/Word/Excel directement (pas de copier-coller partiel)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spcAft>
                <a:spcPts val="2200"/>
              </a:spcAft>
              <a:buNone/>
            </a:pPr>
            <a:r>
              <a:rPr lang="en-US" sz="17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Demander une extraction structurée (montants, clauses, échéances)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buNone/>
            </a:pPr>
            <a:r>
              <a:rPr lang="en-US" sz="17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Vérifier chaque chiffre extrait contre l'original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223760" y="1417320"/>
            <a:ext cx="4389120" cy="4389120"/>
          </a:xfrm>
          <a:prstGeom prst="roundRect">
            <a:avLst>
              <a:gd name="adj" fmla="val 4583"/>
            </a:avLst>
          </a:prstGeom>
          <a:solidFill>
            <a:srgbClr val="1A1323"/>
          </a:solidFill>
          <a:ln/>
        </p:spPr>
      </p:sp>
      <p:sp>
        <p:nvSpPr>
          <p:cNvPr id="11" name="Text 9"/>
          <p:cNvSpPr/>
          <p:nvPr/>
        </p:nvSpPr>
        <p:spPr>
          <a:xfrm>
            <a:off x="7543800" y="1691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RETENIR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543800" y="2194560"/>
            <a:ext cx="37490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lit vite, mais c'est vous qui validez les chiffres qui comptent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5214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5214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Livrable de ce module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5760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une phrase : à la fin de cette session, Fatou (et vous) disposez d'une bibliothèque de prompts testés, réutilisables dès demain sur vos vrais dossiers.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223760" y="822960"/>
            <a:ext cx="4389120" cy="3291840"/>
          </a:xfrm>
          <a:prstGeom prst="roundRect">
            <a:avLst>
              <a:gd name="adj" fmla="val 6111"/>
            </a:avLst>
          </a:prstGeom>
          <a:solidFill>
            <a:srgbClr val="E06840"/>
          </a:solidFill>
          <a:ln/>
        </p:spPr>
      </p:sp>
      <p:sp>
        <p:nvSpPr>
          <p:cNvPr id="9" name="Text 7"/>
          <p:cNvSpPr/>
          <p:nvPr/>
        </p:nvSpPr>
        <p:spPr>
          <a:xfrm>
            <a:off x="7223760" y="118872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strike="sngStrik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SANS MÉTHODE : UN PROMPT DIFFÉRENT RÉINVENTÉ CHAQUE FOIS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223760" y="1920240"/>
            <a:ext cx="43891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Bibliothèque de 15+ prompts C.L.A.R.T.É</a:t>
            </a:r>
            <a:endParaRPr lang="en-US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5214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5214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 — à vendredi pour le Module 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ça : terminez votre bibliothèque de prompts et postez-la dans #par-module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" y="2743200"/>
            <a:ext cx="10332720" cy="1737360"/>
          </a:xfrm>
          <a:prstGeom prst="roundRect">
            <a:avLst>
              <a:gd name="adj" fmla="val 14737"/>
            </a:avLst>
          </a:prstGeom>
          <a:solidFill>
            <a:srgbClr val="7530AA"/>
          </a:solidFill>
          <a:ln/>
        </p:spPr>
      </p:sp>
      <p:sp>
        <p:nvSpPr>
          <p:cNvPr id="9" name="Shape 7"/>
          <p:cNvSpPr/>
          <p:nvPr/>
        </p:nvSpPr>
        <p:spPr>
          <a:xfrm>
            <a:off x="1371600" y="333756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3246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53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↗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514600" y="30632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Rejoignez la communauté privée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514600" y="36118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FE3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Posez vos questions, partagez votre livrable, retrouvez les replays et les ressources.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2026-08-11T05:35:49Z</dcterms:created>
  <dcterms:modified xsi:type="dcterms:W3CDTF">2026-08-11T05:35:49Z</dcterms:modified>
</cp:coreProperties>
</file>