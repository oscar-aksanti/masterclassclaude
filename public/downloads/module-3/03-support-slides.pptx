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2148840" cy="502920"/>
          </a:xfrm>
          <a:prstGeom prst="roundRect">
            <a:avLst>
              <a:gd name="adj" fmla="val 50000"/>
            </a:avLst>
          </a:prstGeom>
          <a:solidFill>
            <a:srgbClr val="E068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Claude en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personnel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fichier sale à la recommandation chiffrée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4937760" cy="548640"/>
          </a:xfrm>
          <a:prstGeom prst="roundRect">
            <a:avLst>
              <a:gd name="adj" fmla="val 50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806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 •  21 AOÛT 2026  •  18H00 GMT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 a son environnement (M1)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sa bibliothèque de prompts (M2)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Aujourd’hui, elle reçoit enfin le fichier de ventes DELTA Distribution évoqué en réunion.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raisonnement d’un data analyst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la question métier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Nettoyer les données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(tableaux, requêtes, graphiques)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480560"/>
          </a:xfrm>
          <a:prstGeom prst="roundRect">
            <a:avLst>
              <a:gd name="adj" fmla="val 4167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chiffre juste sur une mauvaise question ne sert à rien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question vient toujours avant l’outil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boîte à outils, pas une hiérarchie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/ Sheets (niveau 1, suffisant pour 80 % des cas)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(comprendre plus que produire)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 (niveau 2 optionnel)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(mention rapide, recherche / statistiques)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480560"/>
          </a:xfrm>
          <a:prstGeom prst="roundRect">
            <a:avLst>
              <a:gd name="adj" fmla="val 4167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de ces outils n’est réservé aux développeurs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les manie, vous les comprenez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875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Elle recevait un fichier Excel de 500 lignes et copiait-collait des colonnes une par une dans un chat. 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Fatou Diallo, consultante indépendante, étude de cas du mercredi (rappel Module 1)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sur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Nettoyer un fichier réel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Claude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défauts typiques, 1 méthode reproductible.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5 défauts à toujours vérifier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 stricts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manquantes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incohérents (région, date)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aberrantes (quantité 99999, prix négatif)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Colonnes mal nommées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480560"/>
          </a:xfrm>
          <a:prstGeom prst="roundRect">
            <a:avLst>
              <a:gd name="adj" fmla="val 4167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jamais nettoyer « à l’œil »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systématiquement chacun des 5 types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sur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/ Sheets piloté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prompts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tableau croisé dynamique expliqué, pas juste produit.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croisé dynamique DELTA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vendue par région et par mois (fév.–juil. 2026)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309360" cy="3931920"/>
        </p:xfrm>
        <a:graphic>
          <a:graphicData uri="http://schemas.openxmlformats.org/drawingml/2006/table">
            <a:tbl>
              <a:tblPr/>
              <a:tblGrid>
                <a:gridCol w="1554480"/>
                <a:gridCol w="792785"/>
                <a:gridCol w="792785"/>
                <a:gridCol w="792785"/>
                <a:gridCol w="792785"/>
                <a:gridCol w="792785"/>
                <a:gridCol w="79278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Région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Fév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Dakar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Thiès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068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68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68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68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Casamance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7150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quantité Nord chute de 63 % en mars-avril-mai (encadré en corail) avant de repartir en juin.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23760" y="1417320"/>
            <a:ext cx="4389120" cy="4480560"/>
          </a:xfrm>
          <a:prstGeom prst="roundRect">
            <a:avLst>
              <a:gd name="adj" fmla="val 4167"/>
            </a:avLst>
          </a:prstGeom>
          <a:solidFill>
            <a:srgbClr val="1A1323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43800" y="2240280"/>
            <a:ext cx="3794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formule que Claude explique vaut plus qu’un résultat qu’on ne comprend pas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sur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et pandas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assistés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ne les écrivez pas seul — vous apprenez à les lire.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requête SQL, expliquée ligne par ligne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6309360" cy="2011680"/>
          </a:xfrm>
          <a:prstGeom prst="roundRect">
            <a:avLst>
              <a:gd name="adj" fmla="val 6818"/>
            </a:avLst>
          </a:prstGeom>
          <a:solidFill>
            <a:srgbClr val="1A132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region, SUM(quantite)</a:t>
            </a:r>
            <a:pPr algn="l" indent="0" marL="0">
              <a:lnSpc>
                <a:spcPct val="135000"/>
              </a:lnSpc>
              <a:buNone/>
            </a:pP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ventes</a:t>
            </a:r>
            <a:pPr algn="l" indent="0" marL="0">
              <a:lnSpc>
                <a:spcPct val="135000"/>
              </a:lnSpc>
              <a:buNone/>
            </a:pP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region = 'Nord'</a:t>
            </a:r>
            <a:pPr algn="l" indent="0" marL="0">
              <a:lnSpc>
                <a:spcPct val="135000"/>
              </a:lnSpc>
              <a:buNone/>
            </a:pP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region, mois;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réel commenté à l’oral pendant la démo — pas reformulé en prose ici.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1417320"/>
            <a:ext cx="4389120" cy="4480560"/>
          </a:xfrm>
          <a:prstGeom prst="roundRect">
            <a:avLst>
              <a:gd name="adj" fmla="val 4167"/>
            </a:avLst>
          </a:prstGeom>
          <a:solidFill>
            <a:srgbClr val="1A1323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3800" y="2240280"/>
            <a:ext cx="3794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sert à poser une question précise à une grande base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fait la même chose dans un fichier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 : le niveau 2 optionnel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résultat que le nettoyage Excel, en quelques lignes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Utile si vos fichiers dépassent Excel (millions de lignes)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: mention rapide pour les usages recherche / statistiques poussées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480560"/>
          </a:xfrm>
          <a:prstGeom prst="roundRect">
            <a:avLst>
              <a:gd name="adj" fmla="val 4167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un prérequis de ce module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chemin pour qui veut aller plus loin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sur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Visualiser 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graphique pour la bonne question.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graphique pour quelle question ?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dans le temps → courbe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entre catégories → barres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→ camembert (avec modération)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480560"/>
          </a:xfrm>
          <a:prstGeom prst="roundRect">
            <a:avLst>
              <a:gd name="adj" fmla="val 4167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Demandez à Claude de justifier le choix du graphique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seulement de le produire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de ce module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d’analyse complet, réutilisable dès demain dans votre pratique professionnelle.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23760" y="822960"/>
            <a:ext cx="4389120" cy="3291840"/>
          </a:xfrm>
          <a:prstGeom prst="roundRect">
            <a:avLst>
              <a:gd name="adj" fmla="val 8889"/>
            </a:avLst>
          </a:prstGeom>
          <a:solidFill>
            <a:srgbClr val="E06840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123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 SALE, JAMAIS EXPLOITÉ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6916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d’analyse complet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insights chiffrés + 1 visualisation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à lundi pour le Module 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ça : terminez vos 3 insights et postez votre graphique dans #par-module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332720" cy="1737360"/>
          </a:xfrm>
          <a:prstGeom prst="roundRect">
            <a:avLst>
              <a:gd name="adj" fmla="val 18421"/>
            </a:avLst>
          </a:prstGeom>
          <a:solidFill>
            <a:srgbClr val="7530A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337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3063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la communauté privée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36118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FE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Posez vos questions, partagez votre livrable, retrouvez les replays et les ressources.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— Transformer Claude en Data Analyst personnel</dc:title>
  <dc:subject>PptxGenJS Presentation</dc:subject>
  <dc:creator>Claude AI Mastery 2.0</dc:creator>
  <cp:lastModifiedBy>Claude AI Mastery 2.0</cp:lastModifiedBy>
  <cp:revision>1</cp:revision>
  <dcterms:created xsi:type="dcterms:W3CDTF">2026-08-11T05:37:31Z</dcterms:created>
  <dcterms:modified xsi:type="dcterms:W3CDTF">2026-08-11T05:37:31Z</dcterms:modified>
</cp:coreProperties>
</file>